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66" r:id="rId3"/>
    <p:sldId id="259" r:id="rId4"/>
    <p:sldId id="258" r:id="rId5"/>
    <p:sldId id="260" r:id="rId6"/>
    <p:sldId id="257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24CE84-6E8F-4BFE-B8F5-D3B733FD75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B040A-8428-480A-BDDB-5AD3FF31ACB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B34B0F-22E7-4870-9DA7-22442F869F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66ADF2-5400-4BC2-B4FE-2A498321E4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17FF55-9E48-484B-9E00-3D26DD9CE9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6DD8C4-E4EB-4E85-A704-6B4DAB4309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6F592C-69AA-417C-8599-E1C61BCD82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3CF08-A38D-4A75-B458-E7290C2C80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5F0215-4812-460F-B241-94487FF67B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9E8505-AC7B-4342-AEC4-E26899998A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1B7D24-3D71-4048-A445-8C072EF0FE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8735FC9-A1FE-45C2-A2D6-827C30F5E0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Approaches for teaching literacy beginners</a:t>
            </a:r>
            <a:endParaRPr lang="en-US" dirty="0" smtClean="0">
              <a:latin typeface="Comic Sans MS" pitchFamily="66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 smtClean="0">
                <a:latin typeface="Comic Sans MS" pitchFamily="66" charset="0"/>
              </a:rPr>
              <a:t>Phonics = </a:t>
            </a:r>
            <a:r>
              <a:rPr lang="en-US" sz="2800" dirty="0" err="1" smtClean="0">
                <a:latin typeface="Comic Sans MS" pitchFamily="66" charset="0"/>
              </a:rPr>
              <a:t>organising</a:t>
            </a:r>
            <a:r>
              <a:rPr lang="en-US" sz="2800" dirty="0" smtClean="0">
                <a:latin typeface="Comic Sans MS" pitchFamily="66" charset="0"/>
              </a:rPr>
              <a:t> principle is </a:t>
            </a:r>
            <a:r>
              <a:rPr lang="en-US" sz="2800" dirty="0" smtClean="0">
                <a:latin typeface="Comic Sans MS" pitchFamily="66" charset="0"/>
              </a:rPr>
              <a:t>SOUNDS (phonemes) and their SPELLINGS (graphemes).</a:t>
            </a:r>
            <a:endParaRPr lang="en-US" sz="2800" dirty="0" smtClean="0">
              <a:latin typeface="Comic Sans MS" pitchFamily="66" charset="0"/>
            </a:endParaRPr>
          </a:p>
          <a:p>
            <a:r>
              <a:rPr lang="en-US" sz="2800" dirty="0" smtClean="0">
                <a:latin typeface="Comic Sans MS" pitchFamily="66" charset="0"/>
              </a:rPr>
              <a:t>Whole </a:t>
            </a:r>
            <a:r>
              <a:rPr lang="en-US" sz="2800" dirty="0" smtClean="0">
                <a:latin typeface="Comic Sans MS" pitchFamily="66" charset="0"/>
              </a:rPr>
              <a:t>Language </a:t>
            </a:r>
            <a:r>
              <a:rPr lang="en-US" sz="2800" dirty="0" smtClean="0">
                <a:latin typeface="Comic Sans MS" pitchFamily="66" charset="0"/>
              </a:rPr>
              <a:t>= </a:t>
            </a:r>
            <a:r>
              <a:rPr lang="en-US" sz="2800" dirty="0" err="1" smtClean="0">
                <a:latin typeface="Comic Sans MS" pitchFamily="66" charset="0"/>
              </a:rPr>
              <a:t>organising</a:t>
            </a:r>
            <a:r>
              <a:rPr lang="en-US" sz="2800" dirty="0" smtClean="0">
                <a:latin typeface="Comic Sans MS" pitchFamily="66" charset="0"/>
              </a:rPr>
              <a:t> principle is the WORD.</a:t>
            </a:r>
          </a:p>
          <a:p>
            <a:r>
              <a:rPr lang="en-US" sz="2800" dirty="0" smtClean="0">
                <a:latin typeface="Comic Sans MS" pitchFamily="66" charset="0"/>
              </a:rPr>
              <a:t>Balanced Literacy = Whole Language with a sprinkling of phonics</a:t>
            </a:r>
            <a:endParaRPr lang="en-US" dirty="0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There’s phonics and phonics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Initial phonics – a is for apple</a:t>
            </a:r>
          </a:p>
          <a:p>
            <a:r>
              <a:rPr lang="en-AU" dirty="0" smtClean="0"/>
              <a:t>Analytic Phonics – seeing spelling patterns in words and working back to sounds</a:t>
            </a:r>
          </a:p>
          <a:p>
            <a:r>
              <a:rPr lang="en-AU" dirty="0" smtClean="0"/>
              <a:t>Synthetic Phonics – building words from sounds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Why start with sounds?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Comic Sans MS" pitchFamily="66" charset="0"/>
              </a:rPr>
              <a:t>Research backing</a:t>
            </a:r>
          </a:p>
          <a:p>
            <a:r>
              <a:rPr lang="en-US" dirty="0" smtClean="0">
                <a:latin typeface="Comic Sans MS" pitchFamily="66" charset="0"/>
              </a:rPr>
              <a:t>Simple and finite. There are only 44 sounds, </a:t>
            </a:r>
            <a:r>
              <a:rPr lang="en-US" dirty="0" err="1" smtClean="0">
                <a:latin typeface="Comic Sans MS" pitchFamily="66" charset="0"/>
              </a:rPr>
              <a:t>cf</a:t>
            </a:r>
            <a:r>
              <a:rPr lang="en-US" dirty="0" smtClean="0">
                <a:latin typeface="Comic Sans MS" pitchFamily="66" charset="0"/>
              </a:rPr>
              <a:t> 200+ spelling patterns</a:t>
            </a:r>
          </a:p>
          <a:p>
            <a:r>
              <a:rPr lang="en-US" dirty="0" smtClean="0">
                <a:latin typeface="Comic Sans MS" pitchFamily="66" charset="0"/>
              </a:rPr>
              <a:t>Gives you somewhere to file e.g. the </a:t>
            </a:r>
            <a:r>
              <a:rPr lang="en-US" u="sng" dirty="0" err="1" smtClean="0">
                <a:latin typeface="Comic Sans MS" pitchFamily="66" charset="0"/>
              </a:rPr>
              <a:t>yrrh</a:t>
            </a:r>
            <a:r>
              <a:rPr lang="en-US" dirty="0" smtClean="0">
                <a:latin typeface="Comic Sans MS" pitchFamily="66" charset="0"/>
              </a:rPr>
              <a:t> in myrrh.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Basic strategies</a:t>
            </a:r>
            <a:endParaRPr lang="en-US" sz="2800" smtClean="0">
              <a:latin typeface="Comic Sans MS" pitchFamily="66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No letter names</a:t>
            </a:r>
          </a:p>
          <a:p>
            <a:r>
              <a:rPr lang="en-US" smtClean="0">
                <a:latin typeface="Comic Sans MS" pitchFamily="66" charset="0"/>
              </a:rPr>
              <a:t>Crisp consonants</a:t>
            </a:r>
          </a:p>
          <a:p>
            <a:r>
              <a:rPr lang="en-US" smtClean="0">
                <a:latin typeface="Comic Sans MS" pitchFamily="66" charset="0"/>
              </a:rPr>
              <a:t>Say each sound as you write it</a:t>
            </a:r>
          </a:p>
          <a:p>
            <a:r>
              <a:rPr lang="en-US" smtClean="0">
                <a:latin typeface="Comic Sans MS" pitchFamily="66" charset="0"/>
              </a:rPr>
              <a:t>Big print</a:t>
            </a:r>
          </a:p>
          <a:p>
            <a:r>
              <a:rPr lang="en-US" smtClean="0">
                <a:latin typeface="Comic Sans MS" pitchFamily="66" charset="0"/>
              </a:rPr>
              <a:t>Small, fast steps</a:t>
            </a:r>
          </a:p>
          <a:p>
            <a:r>
              <a:rPr lang="en-US" smtClean="0">
                <a:latin typeface="Comic Sans MS" pitchFamily="66" charset="0"/>
              </a:rPr>
              <a:t>Discovery learning - no rules or drills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&gt;90% decodable texts</a:t>
            </a:r>
          </a:p>
          <a:p>
            <a:r>
              <a:rPr lang="en-US" smtClean="0">
                <a:latin typeface="Comic Sans MS" pitchFamily="66" charset="0"/>
              </a:rPr>
              <a:t>Underline letters working together as a single sound</a:t>
            </a:r>
          </a:p>
          <a:p>
            <a:r>
              <a:rPr lang="en-US" smtClean="0">
                <a:latin typeface="Comic Sans MS" pitchFamily="66" charset="0"/>
              </a:rPr>
              <a:t>Mark syllable breaks with a dot</a:t>
            </a:r>
          </a:p>
          <a:p>
            <a:r>
              <a:rPr lang="en-US" smtClean="0">
                <a:latin typeface="Comic Sans MS" pitchFamily="66" charset="0"/>
              </a:rPr>
              <a:t>No sight words</a:t>
            </a:r>
          </a:p>
          <a:p>
            <a:r>
              <a:rPr lang="en-US" smtClean="0">
                <a:latin typeface="Comic Sans MS" pitchFamily="66" charset="0"/>
              </a:rPr>
              <a:t>‘Funny spellings’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Underlying concepts</a:t>
            </a:r>
            <a:endParaRPr lang="en-US" sz="2800" smtClean="0">
              <a:latin typeface="Comic Sans MS" pitchFamily="66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256112"/>
          </a:xfrm>
        </p:spPr>
        <p:txBody>
          <a:bodyPr/>
          <a:lstStyle/>
          <a:p>
            <a:r>
              <a:rPr lang="en-US" sz="2800" dirty="0" smtClean="0">
                <a:latin typeface="Comic Sans MS" pitchFamily="66" charset="0"/>
              </a:rPr>
              <a:t>Spoken words are made of sounds</a:t>
            </a:r>
          </a:p>
          <a:p>
            <a:r>
              <a:rPr lang="en-US" sz="2800" dirty="0" smtClean="0">
                <a:latin typeface="Comic Sans MS" pitchFamily="66" charset="0"/>
              </a:rPr>
              <a:t>Letters represent those sounds</a:t>
            </a:r>
          </a:p>
          <a:p>
            <a:r>
              <a:rPr lang="en-US" sz="2800" dirty="0" smtClean="0">
                <a:latin typeface="Comic Sans MS" pitchFamily="66" charset="0"/>
              </a:rPr>
              <a:t>One sound is usually 1, 2, 3 or 4 letters</a:t>
            </a:r>
          </a:p>
          <a:p>
            <a:r>
              <a:rPr lang="en-US" sz="2800" dirty="0" smtClean="0">
                <a:latin typeface="Comic Sans MS" pitchFamily="66" charset="0"/>
              </a:rPr>
              <a:t>Most sounds have a few spellings e.g. different ones for word beginnings and ends</a:t>
            </a:r>
          </a:p>
          <a:p>
            <a:r>
              <a:rPr lang="en-US" sz="2800" dirty="0" smtClean="0">
                <a:latin typeface="Comic Sans MS" pitchFamily="66" charset="0"/>
              </a:rPr>
              <a:t>Some spellings are shared by sounds</a:t>
            </a:r>
          </a:p>
          <a:p>
            <a:r>
              <a:rPr lang="en-US" sz="2800" dirty="0" smtClean="0">
                <a:latin typeface="Comic Sans MS" pitchFamily="66" charset="0"/>
              </a:rPr>
              <a:t>Long words are made of syllables, which are written or read one at a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Level 1</a:t>
            </a:r>
            <a:endParaRPr lang="en-US" sz="2800" smtClean="0">
              <a:latin typeface="Comic Sans MS" pitchFamily="66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smtClean="0">
                <a:latin typeface="Comic Sans MS" pitchFamily="66" charset="0"/>
              </a:rPr>
              <a:t>23 consonant sounds (all but </a:t>
            </a:r>
            <a:r>
              <a:rPr lang="en-US" sz="2800" u="sng" smtClean="0">
                <a:latin typeface="Comic Sans MS" pitchFamily="66" charset="0"/>
              </a:rPr>
              <a:t>zh</a:t>
            </a:r>
            <a:r>
              <a:rPr lang="en-US" sz="2800" smtClean="0">
                <a:latin typeface="Comic Sans MS" pitchFamily="66" charset="0"/>
              </a:rPr>
              <a:t> as in ‘beige’, ‘pleasure’ and ‘vision’)</a:t>
            </a:r>
          </a:p>
          <a:p>
            <a:r>
              <a:rPr lang="en-US" sz="2800" smtClean="0">
                <a:latin typeface="Comic Sans MS" pitchFamily="66" charset="0"/>
              </a:rPr>
              <a:t>5 vowels - the ‘short vowels’</a:t>
            </a:r>
          </a:p>
          <a:p>
            <a:r>
              <a:rPr lang="en-US" sz="2800" smtClean="0">
                <a:latin typeface="Comic Sans MS" pitchFamily="66" charset="0"/>
              </a:rPr>
              <a:t>VC and CVC words only</a:t>
            </a:r>
          </a:p>
          <a:p>
            <a:r>
              <a:rPr lang="en-US" sz="2800" smtClean="0">
                <a:latin typeface="Comic Sans MS" pitchFamily="66" charset="0"/>
              </a:rPr>
              <a:t>hearing the first, last then middle sound</a:t>
            </a:r>
          </a:p>
          <a:p>
            <a:r>
              <a:rPr lang="en-US" sz="2800" smtClean="0">
                <a:latin typeface="Comic Sans MS" pitchFamily="66" charset="0"/>
              </a:rPr>
              <a:t>Blending and segmenting</a:t>
            </a:r>
          </a:p>
          <a:p>
            <a:r>
              <a:rPr lang="en-US" sz="2800" smtClean="0">
                <a:latin typeface="Comic Sans MS" pitchFamily="66" charset="0"/>
              </a:rPr>
              <a:t>Beginning and end spellings e.g. ju</a:t>
            </a:r>
            <a:r>
              <a:rPr lang="en-US" sz="2800" u="sng" smtClean="0">
                <a:latin typeface="Comic Sans MS" pitchFamily="66" charset="0"/>
              </a:rPr>
              <a:t>dge</a:t>
            </a:r>
            <a:endParaRPr lang="en-US" sz="2800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Level 2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smtClean="0">
                <a:latin typeface="Comic Sans MS" pitchFamily="66" charset="0"/>
              </a:rPr>
              <a:t>VCC, CVCC then CCVC words</a:t>
            </a:r>
          </a:p>
          <a:p>
            <a:r>
              <a:rPr lang="en-US" sz="2800" smtClean="0">
                <a:latin typeface="Comic Sans MS" pitchFamily="66" charset="0"/>
              </a:rPr>
              <a:t>Meet but not necessarily yet master CCC blends (it’s hard to hear e.g. the ‘t’ in ‘str’)</a:t>
            </a:r>
          </a:p>
          <a:p>
            <a:r>
              <a:rPr lang="en-US" sz="2800" smtClean="0">
                <a:latin typeface="Comic Sans MS" pitchFamily="66" charset="0"/>
              </a:rPr>
              <a:t>Focus on first/last sound of the consonant blend separately</a:t>
            </a:r>
          </a:p>
          <a:p>
            <a:r>
              <a:rPr lang="en-US" sz="2800" smtClean="0">
                <a:latin typeface="Comic Sans MS" pitchFamily="66" charset="0"/>
              </a:rPr>
              <a:t>New spellings: x, qu, past tense ‘ed’, ‘s’ as in ‘has’, ‘n’ as in ‘think’</a:t>
            </a:r>
            <a:endParaRPr lang="en-US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Level 3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smtClean="0">
                <a:latin typeface="Comic Sans MS" pitchFamily="66" charset="0"/>
              </a:rPr>
              <a:t>14 more vowel sounds, one at a time</a:t>
            </a:r>
          </a:p>
          <a:p>
            <a:r>
              <a:rPr lang="en-US" sz="2800" smtClean="0">
                <a:latin typeface="Comic Sans MS" pitchFamily="66" charset="0"/>
              </a:rPr>
              <a:t>Work on spelling then reading</a:t>
            </a:r>
          </a:p>
          <a:p>
            <a:r>
              <a:rPr lang="en-US" sz="2800" smtClean="0">
                <a:latin typeface="Comic Sans MS" pitchFamily="66" charset="0"/>
              </a:rPr>
              <a:t>Notice patterns e.g. how to spell ‘o’ after ‘w’, as in ‘w</a:t>
            </a:r>
            <a:r>
              <a:rPr lang="en-US" sz="2800" b="1" smtClean="0">
                <a:latin typeface="Comic Sans MS" pitchFamily="66" charset="0"/>
              </a:rPr>
              <a:t>a</a:t>
            </a:r>
            <a:r>
              <a:rPr lang="en-US" sz="2800" smtClean="0">
                <a:latin typeface="Comic Sans MS" pitchFamily="66" charset="0"/>
              </a:rPr>
              <a:t>nt’, ‘sw</a:t>
            </a:r>
            <a:r>
              <a:rPr lang="en-US" sz="2800" b="1" smtClean="0">
                <a:latin typeface="Comic Sans MS" pitchFamily="66" charset="0"/>
              </a:rPr>
              <a:t>a</a:t>
            </a:r>
            <a:r>
              <a:rPr lang="en-US" sz="2800" smtClean="0">
                <a:latin typeface="Comic Sans MS" pitchFamily="66" charset="0"/>
              </a:rPr>
              <a:t>n’, ‘qu</a:t>
            </a:r>
            <a:r>
              <a:rPr lang="en-US" sz="2800" b="1" smtClean="0">
                <a:latin typeface="Comic Sans MS" pitchFamily="66" charset="0"/>
              </a:rPr>
              <a:t>a</a:t>
            </a:r>
            <a:r>
              <a:rPr lang="en-US" sz="2800" smtClean="0">
                <a:latin typeface="Comic Sans MS" pitchFamily="66" charset="0"/>
              </a:rPr>
              <a:t>d’</a:t>
            </a:r>
          </a:p>
          <a:p>
            <a:r>
              <a:rPr lang="en-US" sz="2800" smtClean="0">
                <a:latin typeface="Comic Sans MS" pitchFamily="66" charset="0"/>
              </a:rPr>
              <a:t>Notice shared spellings e.g. ‘ou’ as in s</a:t>
            </a:r>
            <a:r>
              <a:rPr lang="en-US" sz="2800" b="1" u="sng" smtClean="0">
                <a:latin typeface="Comic Sans MS" pitchFamily="66" charset="0"/>
              </a:rPr>
              <a:t>ou</a:t>
            </a:r>
            <a:r>
              <a:rPr lang="en-US" sz="2800" smtClean="0">
                <a:latin typeface="Comic Sans MS" pitchFamily="66" charset="0"/>
              </a:rPr>
              <a:t>p, out, c</a:t>
            </a:r>
            <a:r>
              <a:rPr lang="en-US" sz="2800" b="1" u="sng" smtClean="0">
                <a:latin typeface="Comic Sans MS" pitchFamily="66" charset="0"/>
              </a:rPr>
              <a:t>ou</a:t>
            </a:r>
            <a:r>
              <a:rPr lang="en-US" sz="900" smtClean="0">
                <a:latin typeface="Comic Sans MS" pitchFamily="66" charset="0"/>
              </a:rPr>
              <a:t> </a:t>
            </a:r>
            <a:r>
              <a:rPr lang="en-US" sz="2800" u="sng" smtClean="0">
                <a:latin typeface="Comic Sans MS" pitchFamily="66" charset="0"/>
              </a:rPr>
              <a:t>gh</a:t>
            </a:r>
            <a:r>
              <a:rPr lang="en-US" sz="2800" smtClean="0">
                <a:latin typeface="Comic Sans MS" pitchFamily="66" charset="0"/>
              </a:rPr>
              <a:t>, r</a:t>
            </a:r>
            <a:r>
              <a:rPr lang="en-US" sz="2800" b="1" u="sng" smtClean="0">
                <a:latin typeface="Comic Sans MS" pitchFamily="66" charset="0"/>
              </a:rPr>
              <a:t>ou</a:t>
            </a:r>
            <a:r>
              <a:rPr lang="en-US" sz="900" smtClean="0">
                <a:latin typeface="Comic Sans MS" pitchFamily="66" charset="0"/>
              </a:rPr>
              <a:t> </a:t>
            </a:r>
            <a:r>
              <a:rPr lang="en-US" sz="2800" u="sng" smtClean="0">
                <a:latin typeface="Comic Sans MS" pitchFamily="66" charset="0"/>
              </a:rPr>
              <a:t>gh</a:t>
            </a:r>
          </a:p>
          <a:p>
            <a:r>
              <a:rPr lang="en-US" sz="2800" smtClean="0">
                <a:latin typeface="Comic Sans MS" pitchFamily="66" charset="0"/>
              </a:rPr>
              <a:t>Focus on one-syllable words</a:t>
            </a:r>
            <a:endParaRPr lang="en-US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Level 4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smtClean="0">
                <a:latin typeface="Comic Sans MS" pitchFamily="66" charset="0"/>
              </a:rPr>
              <a:t>Consonant spelling alternatives, one sound at a time e.g. ‘g’ as in </a:t>
            </a:r>
            <a:r>
              <a:rPr lang="en-US" sz="2800" b="1" smtClean="0">
                <a:latin typeface="Comic Sans MS" pitchFamily="66" charset="0"/>
              </a:rPr>
              <a:t>g</a:t>
            </a:r>
            <a:r>
              <a:rPr lang="en-US" sz="2800" smtClean="0">
                <a:latin typeface="Comic Sans MS" pitchFamily="66" charset="0"/>
              </a:rPr>
              <a:t>ot, </a:t>
            </a:r>
            <a:r>
              <a:rPr lang="en-US" sz="2800" b="1" u="sng" smtClean="0">
                <a:latin typeface="Comic Sans MS" pitchFamily="66" charset="0"/>
              </a:rPr>
              <a:t>gu</a:t>
            </a:r>
            <a:r>
              <a:rPr lang="en-US" sz="2800" smtClean="0">
                <a:latin typeface="Comic Sans MS" pitchFamily="66" charset="0"/>
              </a:rPr>
              <a:t>ard, </a:t>
            </a:r>
            <a:r>
              <a:rPr lang="en-US" sz="2800" b="1" u="sng" smtClean="0">
                <a:latin typeface="Comic Sans MS" pitchFamily="66" charset="0"/>
              </a:rPr>
              <a:t>gh</a:t>
            </a:r>
            <a:r>
              <a:rPr lang="en-US" sz="2800" smtClean="0">
                <a:latin typeface="Comic Sans MS" pitchFamily="66" charset="0"/>
              </a:rPr>
              <a:t>ost, ba</a:t>
            </a:r>
            <a:r>
              <a:rPr lang="en-US" sz="2800" b="1" u="sng" smtClean="0">
                <a:latin typeface="Comic Sans MS" pitchFamily="66" charset="0"/>
              </a:rPr>
              <a:t>gg</a:t>
            </a:r>
            <a:r>
              <a:rPr lang="en-US" sz="2800" smtClean="0">
                <a:latin typeface="Comic Sans MS" pitchFamily="66" charset="0"/>
              </a:rPr>
              <a:t>ed, mor</a:t>
            </a:r>
            <a:r>
              <a:rPr lang="en-US" sz="2800" b="1" u="sng" smtClean="0">
                <a:latin typeface="Comic Sans MS" pitchFamily="66" charset="0"/>
              </a:rPr>
              <a:t>gue</a:t>
            </a:r>
          </a:p>
          <a:p>
            <a:r>
              <a:rPr lang="en-US" sz="2800" smtClean="0">
                <a:latin typeface="Comic Sans MS" pitchFamily="66" charset="0"/>
              </a:rPr>
              <a:t>Notice patterns e.g. which spellings are used which end of the word? before/after what?</a:t>
            </a:r>
            <a:endParaRPr lang="en-US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Level 5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smtClean="0">
                <a:latin typeface="Comic Sans MS" pitchFamily="66" charset="0"/>
              </a:rPr>
              <a:t>Words with more than one syllable</a:t>
            </a:r>
          </a:p>
          <a:p>
            <a:r>
              <a:rPr lang="en-US" sz="2800" smtClean="0">
                <a:latin typeface="Comic Sans MS" pitchFamily="66" charset="0"/>
              </a:rPr>
              <a:t>The unstressed vowel (schwa)</a:t>
            </a:r>
          </a:p>
          <a:p>
            <a:r>
              <a:rPr lang="en-US" sz="2800" smtClean="0">
                <a:latin typeface="Comic Sans MS" pitchFamily="66" charset="0"/>
              </a:rPr>
              <a:t>‘Over-pronouncing’ words to help remember the spelling</a:t>
            </a:r>
          </a:p>
          <a:p>
            <a:r>
              <a:rPr lang="en-US" sz="2800" smtClean="0">
                <a:latin typeface="Comic Sans MS" pitchFamily="66" charset="0"/>
              </a:rPr>
              <a:t>Important spellings not/rarely used in one-syllable words</a:t>
            </a:r>
          </a:p>
          <a:p>
            <a:r>
              <a:rPr lang="en-US" sz="2800" smtClean="0">
                <a:latin typeface="Comic Sans MS" pitchFamily="66" charset="0"/>
              </a:rPr>
              <a:t>Blending syllable by syllable</a:t>
            </a:r>
            <a:endParaRPr lang="en-US" smtClean="0">
              <a:latin typeface="Comic Sans MS" pitchFamily="66" charset="0"/>
            </a:endParaRPr>
          </a:p>
          <a:p>
            <a:endParaRPr lang="en-US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omic Sans MS" pitchFamily="66" charset="0"/>
              </a:rPr>
              <a:t>Level 6 and 7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smtClean="0">
                <a:latin typeface="Comic Sans MS" pitchFamily="66" charset="0"/>
              </a:rPr>
              <a:t>Least common patterns</a:t>
            </a:r>
          </a:p>
          <a:p>
            <a:r>
              <a:rPr lang="en-US" sz="2800" smtClean="0">
                <a:latin typeface="Comic Sans MS" pitchFamily="66" charset="0"/>
              </a:rPr>
              <a:t>Funny spellings</a:t>
            </a:r>
          </a:p>
          <a:p>
            <a:r>
              <a:rPr lang="en-US" sz="2800" smtClean="0">
                <a:latin typeface="Comic Sans MS" pitchFamily="66" charset="0"/>
              </a:rPr>
              <a:t>Tidying up</a:t>
            </a:r>
            <a:endParaRPr lang="en-US" smtClean="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Office Them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492</Words>
  <Application>Microsoft Office PowerPoint</Application>
  <PresentationFormat>On-screen Show (4:3)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Comic Sans MS</vt:lpstr>
      <vt:lpstr>Office Theme</vt:lpstr>
      <vt:lpstr>Approaches for teaching literacy beginners</vt:lpstr>
      <vt:lpstr>There’s phonics and phonics</vt:lpstr>
      <vt:lpstr>Why start with sounds?</vt:lpstr>
      <vt:lpstr>Basic strategies</vt:lpstr>
      <vt:lpstr>Underlying concepts</vt:lpstr>
      <vt:lpstr>Level 1</vt:lpstr>
      <vt:lpstr>Level 2</vt:lpstr>
      <vt:lpstr>Level 3</vt:lpstr>
      <vt:lpstr>Level 4</vt:lpstr>
      <vt:lpstr>Level 5</vt:lpstr>
      <vt:lpstr>Level 6 and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literacy wars</dc:title>
  <dc:creator>Alison Clarke</dc:creator>
  <cp:lastModifiedBy>Administrator</cp:lastModifiedBy>
  <cp:revision>11</cp:revision>
  <dcterms:created xsi:type="dcterms:W3CDTF">2002-10-22T06:18:41Z</dcterms:created>
  <dcterms:modified xsi:type="dcterms:W3CDTF">2015-07-28T05:03:23Z</dcterms:modified>
</cp:coreProperties>
</file>